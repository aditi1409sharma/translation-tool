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strument Sans Medium"/>
      <p:regular r:id="rId36"/>
      <p:bold r:id="rId37"/>
      <p:italic r:id="rId38"/>
      <p:boldItalic r:id="rId39"/>
    </p:embeddedFont>
    <p:embeddedFont>
      <p:font typeface="Instrument Sans SemiBold"/>
      <p:regular r:id="rId40"/>
      <p:bold r:id="rId41"/>
      <p:italic r:id="rId42"/>
      <p:boldItalic r:id="rId43"/>
    </p:embeddedFont>
    <p:embeddedFont>
      <p:font typeface="Outfit"/>
      <p:regular r:id="rId44"/>
      <p:bold r:id="rId45"/>
    </p:embeddedFont>
    <p:embeddedFont>
      <p:font typeface="Instrument Sans"/>
      <p:regular r:id="rId46"/>
      <p:bold r:id="rId47"/>
      <p:italic r:id="rId48"/>
      <p:boldItalic r:id="rId49"/>
    </p:embeddedFont>
    <p:embeddedFont>
      <p:font typeface="Outfit SemiBold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2" roundtripDataSignature="AMtx7miIj8BTNnSj83mOcxBaBlUw1Rll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F585C6-75B1-4C37-AC2C-7FAF261CD204}">
  <a:tblStyle styleId="{B5F585C6-75B1-4C37-AC2C-7FAF261CD2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SemiBold-regular.fntdata"/><Relationship Id="rId42" Type="http://schemas.openxmlformats.org/officeDocument/2006/relationships/font" Target="fonts/InstrumentSansSemiBold-italic.fntdata"/><Relationship Id="rId41" Type="http://schemas.openxmlformats.org/officeDocument/2006/relationships/font" Target="fonts/InstrumentSansSemiBold-bold.fntdata"/><Relationship Id="rId44" Type="http://schemas.openxmlformats.org/officeDocument/2006/relationships/font" Target="fonts/Outfit-regular.fntdata"/><Relationship Id="rId43" Type="http://schemas.openxmlformats.org/officeDocument/2006/relationships/font" Target="fonts/InstrumentSansSemiBold-boldItalic.fntdata"/><Relationship Id="rId46" Type="http://schemas.openxmlformats.org/officeDocument/2006/relationships/font" Target="fonts/InstrumentSans-regular.fntdata"/><Relationship Id="rId45" Type="http://schemas.openxmlformats.org/officeDocument/2006/relationships/font" Target="fonts/Outfi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strumentSans-italic.fntdata"/><Relationship Id="rId47" Type="http://schemas.openxmlformats.org/officeDocument/2006/relationships/font" Target="fonts/InstrumentSans-bold.fntdata"/><Relationship Id="rId49" Type="http://schemas.openxmlformats.org/officeDocument/2006/relationships/font" Target="fonts/Instrument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InstrumentSansMedium-bold.fntdata"/><Relationship Id="rId36" Type="http://schemas.openxmlformats.org/officeDocument/2006/relationships/font" Target="fonts/InstrumentSansMedium-regular.fntdata"/><Relationship Id="rId39" Type="http://schemas.openxmlformats.org/officeDocument/2006/relationships/font" Target="fonts/InstrumentSansMedium-boldItalic.fntdata"/><Relationship Id="rId38" Type="http://schemas.openxmlformats.org/officeDocument/2006/relationships/font" Target="fonts/InstrumentSansMedium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utfitSemiBold-bold.fntdata"/><Relationship Id="rId50" Type="http://schemas.openxmlformats.org/officeDocument/2006/relationships/font" Target="fonts/OutfitSemiBold-regular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bf74b119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6bf74b119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bf7f1426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6bf7f1426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bf7f142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6bf7f142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af2b7fa6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6af2b7fa6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af2b7fa6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6af2b7fa6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af2b7fa6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6af2b7fa6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bf7f1426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6bf7f1426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bf7f1426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36bf7f1426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af2b7fa6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6af2b7fa6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6bf7f1426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6bf7f1426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bf7f1426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6bf7f1426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bf7f1426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6bf7f1426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bf7f1426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g36bf7f1426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bf7f14267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6bf7f1426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6bf7f1426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6bf7f1426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6bf7f14267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6bf7f14267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6bf7f14267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6bf7f1426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6bf7f1426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6bf7f1426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6bf7f1426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6bf7f1426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14" name="Google Shape;14;p2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8" name="Google Shape;18;p23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9" name="Google Shape;19;p23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0" name="Google Shape;20;p23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1" name="Google Shape;21;p23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2" name="Google Shape;22;p23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3" name="Google Shape;23;p23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4" name="Google Shape;24;p23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5" name="Google Shape;25;p23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6" name="Google Shape;26;p23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7" name="Google Shape;27;p23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8" name="Google Shape;28;p23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36" name="Google Shape;36;p2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7" name="Google Shape;37;p24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8" name="Google Shape;38;p24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41" name="Google Shape;41;p25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42" name="Google Shape;42;p25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26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6" name="Google Shape;46;p26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9" name="Google Shape;49;p27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50" name="Google Shape;50;p27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54" name="Google Shape;54;p2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2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2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2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2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2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2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137150" lIns="137150" spcFirstLastPara="1" rIns="1828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67" name="Google Shape;67;p2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2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2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2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2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2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3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3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3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3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3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3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0" wrap="square" tIns="164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3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3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9pPr>
          </a:lstStyle>
          <a:p/>
        </p:txBody>
      </p:sp>
      <p:sp>
        <p:nvSpPr>
          <p:cNvPr id="87" name="Google Shape;87;p3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3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0" wrap="square" tIns="164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3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3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3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94" name="Google Shape;94;p3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3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3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3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3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3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3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3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3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08" name="Google Shape;108;p3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3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10" name="Google Shape;110;p3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3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12" name="Google Shape;112;p3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3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3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3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3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3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3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3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3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3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3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25" name="Google Shape;125;p3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9pPr>
          </a:lstStyle>
          <a:p/>
        </p:txBody>
      </p:sp>
      <p:sp>
        <p:nvSpPr>
          <p:cNvPr id="126" name="Google Shape;126;p3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9pPr>
          </a:lstStyle>
          <a:p/>
        </p:txBody>
      </p:sp>
      <p:sp>
        <p:nvSpPr>
          <p:cNvPr id="127" name="Google Shape;127;p3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/>
            </a:lvl9pPr>
          </a:lstStyle>
          <a:p/>
        </p:txBody>
      </p:sp>
      <p:sp>
        <p:nvSpPr>
          <p:cNvPr id="128" name="Google Shape;128;p3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3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3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3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3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35" name="Google Shape;135;p3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3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3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38" name="Google Shape;138;p3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3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9pPr>
          </a:lstStyle>
          <a:p/>
        </p:txBody>
      </p:sp>
      <p:sp>
        <p:nvSpPr>
          <p:cNvPr id="140" name="Google Shape;140;p3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41" name="Google Shape;141;p3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9pPr>
          </a:lstStyle>
          <a:p/>
        </p:txBody>
      </p:sp>
      <p:sp>
        <p:nvSpPr>
          <p:cNvPr id="142" name="Google Shape;142;p3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43" name="Google Shape;143;p3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400"/>
            </a:lvl9pPr>
          </a:lstStyle>
          <a:p/>
        </p:txBody>
      </p:sp>
      <p:sp>
        <p:nvSpPr>
          <p:cNvPr id="144" name="Google Shape;144;p3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3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3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3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3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3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3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54" name="Google Shape;154;p3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55" name="Google Shape;155;p3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56" name="Google Shape;156;p3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800"/>
            </a:lvl9pPr>
          </a:lstStyle>
          <a:p/>
        </p:txBody>
      </p:sp>
      <p:sp>
        <p:nvSpPr>
          <p:cNvPr id="157" name="Google Shape;157;p3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3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61" name="Google Shape;161;p3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3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63" name="Google Shape;163;p3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3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65" name="Google Shape;165;p3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3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67" name="Google Shape;167;p3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3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69" name="Google Shape;169;p3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3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3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72" name="Google Shape;172;p3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73" name="Google Shape;173;p3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  <p:sp>
        <p:nvSpPr>
          <p:cNvPr id="174" name="Google Shape;174;p3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3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3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3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3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3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82" name="Google Shape;182;p3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83" name="Google Shape;183;p3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1828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800"/>
            </a:lvl9pPr>
          </a:lstStyle>
          <a:p/>
        </p:txBody>
      </p:sp>
      <p:sp>
        <p:nvSpPr>
          <p:cNvPr id="184" name="Google Shape;184;p3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85" name="Google Shape;185;p3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3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3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3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3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3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3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3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196" name="Google Shape;196;p3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3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3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3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3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3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3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3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4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4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4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4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9pPr>
          </a:lstStyle>
          <a:p/>
        </p:txBody>
      </p:sp>
      <p:sp>
        <p:nvSpPr>
          <p:cNvPr id="210" name="Google Shape;210;p4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9pPr>
          </a:lstStyle>
          <a:p/>
        </p:txBody>
      </p:sp>
      <p:sp>
        <p:nvSpPr>
          <p:cNvPr id="211" name="Google Shape;211;p4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4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4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4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4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4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219" name="Google Shape;219;p4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9pPr>
          </a:lstStyle>
          <a:p/>
        </p:txBody>
      </p:sp>
      <p:sp>
        <p:nvSpPr>
          <p:cNvPr id="221" name="Google Shape;221;p4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4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4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/>
            </a:lvl9pPr>
          </a:lstStyle>
          <a:p/>
        </p:txBody>
      </p:sp>
      <p:sp>
        <p:nvSpPr>
          <p:cNvPr id="224" name="Google Shape;224;p4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4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4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4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4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4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4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4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4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4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4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4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4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246" name="Google Shape;246;p4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4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4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4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4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4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4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4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256" name="Google Shape;256;p4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4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4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4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4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4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4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4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4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4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4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4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4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4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4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182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4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4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4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4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4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4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4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288" name="Google Shape;288;p4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4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4575" spcFirstLastPara="1" rIns="91425" wrap="square" tIns="164575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4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4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4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4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9pPr>
          </a:lstStyle>
          <a:p/>
        </p:txBody>
      </p:sp>
      <p:sp>
        <p:nvSpPr>
          <p:cNvPr id="298" name="Google Shape;298;p4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4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4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4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4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4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4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4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4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4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4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41" name="Google Shape;341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6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6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6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6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6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6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6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6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6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6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6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6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6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6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6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6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6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6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6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6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6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6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6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6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6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6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6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6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6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6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6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6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6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6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6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6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6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6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6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6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6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6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6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6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6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6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6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6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6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b="0" i="0" sz="60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b="0" i="0" sz="12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15.jpg"/><Relationship Id="rId9" Type="http://schemas.openxmlformats.org/officeDocument/2006/relationships/image" Target="../media/image16.jpg"/><Relationship Id="rId5" Type="http://schemas.openxmlformats.org/officeDocument/2006/relationships/image" Target="../media/image20.jpg"/><Relationship Id="rId6" Type="http://schemas.openxmlformats.org/officeDocument/2006/relationships/image" Target="../media/image14.jpg"/><Relationship Id="rId7" Type="http://schemas.openxmlformats.org/officeDocument/2006/relationships/image" Target="../media/image13.jpg"/><Relationship Id="rId8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jmBDYsDgS3Wkacu-j4LboWHjkddsHiKP/view" TargetMode="External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7.jpg"/><Relationship Id="rId5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"/>
          <p:cNvSpPr txBox="1"/>
          <p:nvPr>
            <p:ph idx="1" type="subTitle"/>
          </p:nvPr>
        </p:nvSpPr>
        <p:spPr>
          <a:xfrm>
            <a:off x="834675" y="4254155"/>
            <a:ext cx="17946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100"/>
              <a:t>Aditi Sharma</a:t>
            </a:r>
            <a:endParaRPr sz="1100"/>
          </a:p>
        </p:txBody>
      </p:sp>
      <p:sp>
        <p:nvSpPr>
          <p:cNvPr id="419" name="Google Shape;419;p1"/>
          <p:cNvSpPr txBox="1"/>
          <p:nvPr>
            <p:ph type="title"/>
          </p:nvPr>
        </p:nvSpPr>
        <p:spPr>
          <a:xfrm>
            <a:off x="818400" y="657000"/>
            <a:ext cx="58473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200"/>
              <a:t>Real-time translation tool 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200"/>
              <a:t>Final</a:t>
            </a:r>
            <a:r>
              <a:rPr lang="en" sz="4200"/>
              <a:t> Presentation</a:t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4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 sz="1400">
                <a:solidFill>
                  <a:srgbClr val="000000"/>
                </a:solidFill>
              </a:rPr>
              <a:t>Guide</a:t>
            </a:r>
            <a:r>
              <a:rPr lang="en" sz="1400">
                <a:solidFill>
                  <a:srgbClr val="000000"/>
                </a:solidFill>
              </a:rPr>
              <a:t>: Dr. Tomochika Ozaki</a:t>
            </a:r>
            <a:endParaRPr sz="4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sz="4200"/>
          </a:p>
        </p:txBody>
      </p:sp>
      <p:sp>
        <p:nvSpPr>
          <p:cNvPr id="420" name="Google Shape;420;p1"/>
          <p:cNvSpPr txBox="1"/>
          <p:nvPr>
            <p:ph idx="3" type="subTitle"/>
          </p:nvPr>
        </p:nvSpPr>
        <p:spPr>
          <a:xfrm>
            <a:off x="3178175" y="4315950"/>
            <a:ext cx="157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100"/>
              <a:t>Date - 8th July, 2025</a:t>
            </a:r>
            <a:endParaRPr sz="1100"/>
          </a:p>
        </p:txBody>
      </p:sp>
      <p:pic>
        <p:nvPicPr>
          <p:cNvPr descr="An abstract texture of raised wave shapes on a white surface. " id="421" name="Google Shape;421;p1"/>
          <p:cNvPicPr preferRelativeResize="0"/>
          <p:nvPr/>
        </p:nvPicPr>
        <p:blipFill rotWithShape="1">
          <a:blip r:embed="rId3">
            <a:alphaModFix amt="50000"/>
          </a:blip>
          <a:srcRect b="0" l="23648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22" name="Google Shape;422;p1"/>
          <p:cNvSpPr txBox="1"/>
          <p:nvPr>
            <p:ph idx="1" type="subTitle"/>
          </p:nvPr>
        </p:nvSpPr>
        <p:spPr>
          <a:xfrm>
            <a:off x="834675" y="4086500"/>
            <a:ext cx="179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950">
                <a:solidFill>
                  <a:srgbClr val="333333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アディティ シャルマ</a:t>
            </a:r>
            <a:endParaRPr sz="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"/>
          <p:cNvSpPr/>
          <p:nvPr/>
        </p:nvSpPr>
        <p:spPr>
          <a:xfrm>
            <a:off x="70850" y="44675"/>
            <a:ext cx="213900" cy="5028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28" name="Google Shape;428;p5"/>
          <p:cNvSpPr txBox="1"/>
          <p:nvPr>
            <p:ph type="title"/>
          </p:nvPr>
        </p:nvSpPr>
        <p:spPr>
          <a:xfrm>
            <a:off x="561925" y="282900"/>
            <a:ext cx="73791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Motivation</a:t>
            </a:r>
            <a:endParaRPr b="1"/>
          </a:p>
        </p:txBody>
      </p:sp>
      <p:sp>
        <p:nvSpPr>
          <p:cNvPr id="429" name="Google Shape;429;p5"/>
          <p:cNvSpPr txBox="1"/>
          <p:nvPr>
            <p:ph idx="1" type="subTitle"/>
          </p:nvPr>
        </p:nvSpPr>
        <p:spPr>
          <a:xfrm>
            <a:off x="561925" y="1007275"/>
            <a:ext cx="8157000" cy="3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Tourists or researchers face difficulty navigating environments with foreign languages in foreign spaces. This acts as a roadblock.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translation tools available in the current market, don’t offer real-time translation offline. Google lens or google image search for translation offers offline support but for higher accuracy it also requires online translation using its GNMT (Google Neural Machine Translator). </a:t>
            </a:r>
            <a:br>
              <a:rPr lang="en" sz="1600"/>
            </a:br>
            <a:br>
              <a:rPr lang="en" sz="1600"/>
            </a:br>
            <a:r>
              <a:rPr lang="en" sz="1600"/>
              <a:t>With the increased use of AR in every field, the integration of the two would be a great addition to the already existing features and further reduce the need for handheld devices and </a:t>
            </a:r>
            <a:r>
              <a:rPr lang="en" sz="1600"/>
              <a:t>replace</a:t>
            </a:r>
            <a:r>
              <a:rPr lang="en" sz="1600"/>
              <a:t> them with </a:t>
            </a:r>
            <a:r>
              <a:rPr lang="en" sz="1600"/>
              <a:t>head</a:t>
            </a:r>
            <a:r>
              <a:rPr lang="en" sz="1600"/>
              <a:t> mounted devices with extensive features.</a:t>
            </a:r>
            <a:br>
              <a:rPr lang="en" sz="1600"/>
            </a:b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"/>
          <p:cNvSpPr/>
          <p:nvPr/>
        </p:nvSpPr>
        <p:spPr>
          <a:xfrm>
            <a:off x="70850" y="44675"/>
            <a:ext cx="213900" cy="5028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35" name="Google Shape;435;p7"/>
          <p:cNvSpPr txBox="1"/>
          <p:nvPr>
            <p:ph type="title"/>
          </p:nvPr>
        </p:nvSpPr>
        <p:spPr>
          <a:xfrm>
            <a:off x="607075" y="282900"/>
            <a:ext cx="7140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436" name="Google Shape;436;p7"/>
          <p:cNvSpPr txBox="1"/>
          <p:nvPr>
            <p:ph idx="1" type="subTitle"/>
          </p:nvPr>
        </p:nvSpPr>
        <p:spPr>
          <a:xfrm>
            <a:off x="607075" y="1012125"/>
            <a:ext cx="8142900" cy="3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To solve this problem the proposed solution should solve the following problems:</a:t>
            </a:r>
            <a:endParaRPr sz="1700"/>
          </a:p>
          <a:p>
            <a:pPr indent="-3365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 live camera feed to get japanese text from </a:t>
            </a:r>
            <a:r>
              <a:rPr lang="en" sz="1700"/>
              <a:t>surroundings.</a:t>
            </a:r>
            <a:endParaRPr sz="1700"/>
          </a:p>
          <a:p>
            <a:pPr indent="-3365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Offer Offline translations</a:t>
            </a:r>
            <a:endParaRPr sz="1700"/>
          </a:p>
          <a:p>
            <a:pPr indent="-3365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Offer Speedy translations</a:t>
            </a:r>
            <a:endParaRPr sz="1700"/>
          </a:p>
          <a:p>
            <a:pPr indent="-3365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Overlays the text onto the original feed.</a:t>
            </a:r>
            <a:endParaRPr sz="1700"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</a:t>
            </a:r>
            <a:endParaRPr sz="1700"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2" name="Google Shape;442;p11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System Architecture</a:t>
            </a:r>
            <a:endParaRPr b="1"/>
          </a:p>
        </p:txBody>
      </p:sp>
      <p:sp>
        <p:nvSpPr>
          <p:cNvPr id="443" name="Google Shape;443;p11"/>
          <p:cNvSpPr/>
          <p:nvPr/>
        </p:nvSpPr>
        <p:spPr>
          <a:xfrm>
            <a:off x="1349300" y="1293450"/>
            <a:ext cx="2523600" cy="498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4" name="Google Shape;444;p11"/>
          <p:cNvSpPr txBox="1"/>
          <p:nvPr/>
        </p:nvSpPr>
        <p:spPr>
          <a:xfrm>
            <a:off x="1500800" y="1293450"/>
            <a:ext cx="2220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Video Capture from camera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45" name="Google Shape;445;p11"/>
          <p:cNvCxnSpPr>
            <a:stCxn id="443" idx="3"/>
          </p:cNvCxnSpPr>
          <p:nvPr/>
        </p:nvCxnSpPr>
        <p:spPr>
          <a:xfrm>
            <a:off x="3872900" y="1542750"/>
            <a:ext cx="164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11"/>
          <p:cNvSpPr/>
          <p:nvPr/>
        </p:nvSpPr>
        <p:spPr>
          <a:xfrm>
            <a:off x="5519600" y="1293450"/>
            <a:ext cx="2523600" cy="498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5671100" y="1293450"/>
            <a:ext cx="2220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Text Detection (OCR)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48" name="Google Shape;448;p11"/>
          <p:cNvCxnSpPr>
            <a:stCxn id="447" idx="2"/>
          </p:cNvCxnSpPr>
          <p:nvPr/>
        </p:nvCxnSpPr>
        <p:spPr>
          <a:xfrm>
            <a:off x="6781400" y="1792050"/>
            <a:ext cx="0" cy="12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11"/>
          <p:cNvSpPr/>
          <p:nvPr/>
        </p:nvSpPr>
        <p:spPr>
          <a:xfrm>
            <a:off x="5519600" y="3008550"/>
            <a:ext cx="2523600" cy="498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5671100" y="3008550"/>
            <a:ext cx="2220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Translation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51" name="Google Shape;451;p11"/>
          <p:cNvCxnSpPr/>
          <p:nvPr/>
        </p:nvCxnSpPr>
        <p:spPr>
          <a:xfrm rot="10800000">
            <a:off x="3881600" y="3218275"/>
            <a:ext cx="1638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11"/>
          <p:cNvSpPr/>
          <p:nvPr/>
        </p:nvSpPr>
        <p:spPr>
          <a:xfrm>
            <a:off x="1349300" y="2968975"/>
            <a:ext cx="2523600" cy="498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3" name="Google Shape;453;p11"/>
          <p:cNvSpPr txBox="1"/>
          <p:nvPr/>
        </p:nvSpPr>
        <p:spPr>
          <a:xfrm>
            <a:off x="1500800" y="2968975"/>
            <a:ext cx="22206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Overlay on Display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54" name="Google Shape;454;p11"/>
          <p:cNvSpPr txBox="1"/>
          <p:nvPr/>
        </p:nvSpPr>
        <p:spPr>
          <a:xfrm>
            <a:off x="645200" y="4019125"/>
            <a:ext cx="8102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Note: This is process is repeated for every 5th frame of the video capture, so every captured frame goes through this pipeline.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bf74b1193_0_23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0" name="Google Shape;460;g36bf74b1193_0_23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Text detection using OCR</a:t>
            </a:r>
            <a:endParaRPr b="1"/>
          </a:p>
        </p:txBody>
      </p:sp>
      <p:sp>
        <p:nvSpPr>
          <p:cNvPr id="461" name="Google Shape;461;g36bf74b1193_0_23"/>
          <p:cNvSpPr txBox="1"/>
          <p:nvPr/>
        </p:nvSpPr>
        <p:spPr>
          <a:xfrm>
            <a:off x="607075" y="955350"/>
            <a:ext cx="79818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Instrument Sans"/>
                <a:ea typeface="Instrument Sans"/>
                <a:cs typeface="Instrument Sans"/>
                <a:sym typeface="Instrument Sans"/>
              </a:rPr>
              <a:t>Preprocessing (Image Enhancement)</a:t>
            </a:r>
            <a:endParaRPr b="1"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Convert to grayscale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Enhance contrast using </a:t>
            </a:r>
            <a:r>
              <a:rPr b="1" lang="en" sz="1100">
                <a:latin typeface="Instrument Sans"/>
                <a:ea typeface="Instrument Sans"/>
                <a:cs typeface="Instrument Sans"/>
                <a:sym typeface="Instrument Sans"/>
              </a:rPr>
              <a:t>CLAHE  - </a:t>
            </a:r>
            <a:r>
              <a:rPr lang="en" sz="11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clipLimit* [1.5]</a:t>
            </a:r>
            <a:endParaRPr b="1"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Denoise using </a:t>
            </a:r>
            <a:r>
              <a:rPr b="1" lang="en" sz="1100">
                <a:latin typeface="Instrument Sans"/>
                <a:ea typeface="Instrument Sans"/>
                <a:cs typeface="Instrument Sans"/>
                <a:sym typeface="Instrument Sans"/>
              </a:rPr>
              <a:t>Non-Local Means</a:t>
            </a:r>
            <a:endParaRPr b="1"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Sharpen edges (custom kernel) - </a:t>
            </a:r>
            <a:r>
              <a:rPr lang="en" sz="11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alpha* [0.9]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Upscale for better recognition, if initial recognition fails.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Final dilation to boost contours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Instrument Sans"/>
                <a:ea typeface="Instrument Sans"/>
                <a:cs typeface="Instrument Sans"/>
                <a:sym typeface="Instrument Sans"/>
              </a:rPr>
              <a:t>Text Detection (PaddleOCR)</a:t>
            </a:r>
            <a:endParaRPr b="1"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Japanese language model with angle classification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Filters out low-confidence and non-Japanese text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Instrument Sans"/>
                <a:ea typeface="Instrument Sans"/>
                <a:cs typeface="Instrument Sans"/>
                <a:sym typeface="Instrument Sans"/>
              </a:rPr>
              <a:t>Postprocessing</a:t>
            </a:r>
            <a:endParaRPr b="1"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Sort boxes top-to-bottom, left-to-right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strument Sans"/>
              <a:buChar char="●"/>
            </a:pPr>
            <a:r>
              <a:rPr lang="en" sz="1100">
                <a:latin typeface="Instrument Sans"/>
                <a:ea typeface="Instrument Sans"/>
                <a:cs typeface="Instrument Sans"/>
                <a:sym typeface="Instrument Sans"/>
              </a:rPr>
              <a:t>Merge nearby boxes on same line using X/Y thresholds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Note:</a:t>
            </a:r>
            <a:r>
              <a:rPr lang="en" sz="11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Grid Search was used on a smaller subset of original dataset  to find the best combination of clipLimit and alpha, measured by F1 score. </a:t>
            </a:r>
            <a:endParaRPr sz="11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2" name="Google Shape;462;g36bf74b1193_0_23"/>
          <p:cNvSpPr/>
          <p:nvPr/>
        </p:nvSpPr>
        <p:spPr>
          <a:xfrm>
            <a:off x="6551525" y="82492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3" name="Google Shape;463;g36bf74b1193_0_23"/>
          <p:cNvSpPr txBox="1"/>
          <p:nvPr/>
        </p:nvSpPr>
        <p:spPr>
          <a:xfrm>
            <a:off x="6682000" y="91625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Input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64" name="Google Shape;464;g36bf74b1193_0_23"/>
          <p:cNvCxnSpPr>
            <a:stCxn id="462" idx="2"/>
          </p:cNvCxnSpPr>
          <p:nvPr/>
        </p:nvCxnSpPr>
        <p:spPr>
          <a:xfrm>
            <a:off x="7595375" y="1190325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5" name="Google Shape;465;g36bf74b1193_0_23"/>
          <p:cNvSpPr/>
          <p:nvPr/>
        </p:nvSpPr>
        <p:spPr>
          <a:xfrm>
            <a:off x="6551525" y="150655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6" name="Google Shape;466;g36bf74b1193_0_23"/>
          <p:cNvSpPr txBox="1"/>
          <p:nvPr/>
        </p:nvSpPr>
        <p:spPr>
          <a:xfrm>
            <a:off x="6695075" y="162070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Preprocessing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67" name="Google Shape;467;g36bf74b1193_0_23"/>
          <p:cNvCxnSpPr/>
          <p:nvPr/>
        </p:nvCxnSpPr>
        <p:spPr>
          <a:xfrm>
            <a:off x="7582300" y="1871950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g36bf74b1193_0_23"/>
          <p:cNvSpPr/>
          <p:nvPr/>
        </p:nvSpPr>
        <p:spPr>
          <a:xfrm>
            <a:off x="6551525" y="218817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9" name="Google Shape;469;g36bf74b1193_0_23"/>
          <p:cNvSpPr txBox="1"/>
          <p:nvPr/>
        </p:nvSpPr>
        <p:spPr>
          <a:xfrm>
            <a:off x="6682000" y="227950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OCR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70" name="Google Shape;470;g36bf74b1193_0_23"/>
          <p:cNvCxnSpPr/>
          <p:nvPr/>
        </p:nvCxnSpPr>
        <p:spPr>
          <a:xfrm>
            <a:off x="7582300" y="2551313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g36bf74b1193_0_23"/>
          <p:cNvSpPr/>
          <p:nvPr/>
        </p:nvSpPr>
        <p:spPr>
          <a:xfrm>
            <a:off x="6551525" y="286980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2" name="Google Shape;472;g36bf74b1193_0_23"/>
          <p:cNvSpPr txBox="1"/>
          <p:nvPr/>
        </p:nvSpPr>
        <p:spPr>
          <a:xfrm>
            <a:off x="6682000" y="297945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Merging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of boxes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473" name="Google Shape;473;g36bf74b1193_0_23"/>
          <p:cNvCxnSpPr/>
          <p:nvPr/>
        </p:nvCxnSpPr>
        <p:spPr>
          <a:xfrm>
            <a:off x="7595375" y="3235188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g36bf74b1193_0_23"/>
          <p:cNvSpPr/>
          <p:nvPr/>
        </p:nvSpPr>
        <p:spPr>
          <a:xfrm>
            <a:off x="6551525" y="355142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5" name="Google Shape;475;g36bf74b1193_0_23"/>
          <p:cNvSpPr txBox="1"/>
          <p:nvPr/>
        </p:nvSpPr>
        <p:spPr>
          <a:xfrm>
            <a:off x="6682000" y="364725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Output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bf7f14267_0_32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81" name="Google Shape;481;g36bf7f14267_0_32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Detection Visualization</a:t>
            </a:r>
            <a:endParaRPr b="1"/>
          </a:p>
        </p:txBody>
      </p:sp>
      <p:pic>
        <p:nvPicPr>
          <p:cNvPr id="482" name="Google Shape;482;g36bf7f14267_0_32"/>
          <p:cNvPicPr preferRelativeResize="0"/>
          <p:nvPr/>
        </p:nvPicPr>
        <p:blipFill rotWithShape="1">
          <a:blip r:embed="rId3">
            <a:alphaModFix/>
          </a:blip>
          <a:srcRect b="0" l="0" r="66578" t="1448"/>
          <a:stretch/>
        </p:blipFill>
        <p:spPr>
          <a:xfrm>
            <a:off x="596808" y="1561350"/>
            <a:ext cx="3115499" cy="202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6bf7f14267_0_32"/>
          <p:cNvPicPr preferRelativeResize="0"/>
          <p:nvPr/>
        </p:nvPicPr>
        <p:blipFill rotWithShape="1">
          <a:blip r:embed="rId3">
            <a:alphaModFix/>
          </a:blip>
          <a:srcRect b="4650" l="33254" r="39307" t="1593"/>
          <a:stretch/>
        </p:blipFill>
        <p:spPr>
          <a:xfrm>
            <a:off x="3712300" y="1577975"/>
            <a:ext cx="2783736" cy="20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6bf7f14267_0_32"/>
          <p:cNvPicPr preferRelativeResize="0"/>
          <p:nvPr/>
        </p:nvPicPr>
        <p:blipFill rotWithShape="1">
          <a:blip r:embed="rId3">
            <a:alphaModFix/>
          </a:blip>
          <a:srcRect b="13571" l="65479" r="11363" t="4178"/>
          <a:stretch/>
        </p:blipFill>
        <p:spPr>
          <a:xfrm>
            <a:off x="6309700" y="1506550"/>
            <a:ext cx="2678148" cy="2092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6bf7f14267_0_32"/>
          <p:cNvSpPr txBox="1"/>
          <p:nvPr/>
        </p:nvSpPr>
        <p:spPr>
          <a:xfrm>
            <a:off x="2146200" y="3952975"/>
            <a:ext cx="4851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Bounding box visualization from live feed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bf7f14267_0_11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1" name="Google Shape;491;g36bf7f14267_0_11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Dataset Used for fine-tuning:</a:t>
            </a:r>
            <a:endParaRPr b="1"/>
          </a:p>
        </p:txBody>
      </p:sp>
      <p:sp>
        <p:nvSpPr>
          <p:cNvPr id="492" name="Google Shape;492;g36bf7f14267_0_11"/>
          <p:cNvSpPr txBox="1"/>
          <p:nvPr/>
        </p:nvSpPr>
        <p:spPr>
          <a:xfrm>
            <a:off x="578125" y="915466"/>
            <a:ext cx="80397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scene text image dataset with 1000 images </a:t>
            </a: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containing</a:t>
            </a: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japanese text.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images vary in terms of text style and text positions. 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dataset resembles the </a:t>
            </a: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case</a:t>
            </a: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of this translation tool, where the user would need translations of things they happen to see around them.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93" name="Google Shape;493;g36bf7f1426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988" y="2347755"/>
            <a:ext cx="1368965" cy="860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6bf7f14267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230" y="2327538"/>
            <a:ext cx="1433308" cy="90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6bf7f14267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0828" y="2327538"/>
            <a:ext cx="955300" cy="90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g36bf7f14267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1987" y="3459263"/>
            <a:ext cx="1432952" cy="900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g36bf7f14267_0_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3001" y="2327537"/>
            <a:ext cx="1433312" cy="202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6bf7f14267_0_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5991" y="3469369"/>
            <a:ext cx="1273723" cy="90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6bf7f14267_0_11"/>
          <p:cNvPicPr preferRelativeResize="0"/>
          <p:nvPr/>
        </p:nvPicPr>
        <p:blipFill rotWithShape="1">
          <a:blip r:embed="rId9">
            <a:alphaModFix/>
          </a:blip>
          <a:srcRect b="26610" l="0" r="0" t="21366"/>
          <a:stretch/>
        </p:blipFill>
        <p:spPr>
          <a:xfrm>
            <a:off x="4780764" y="3461948"/>
            <a:ext cx="1368968" cy="89532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6bf7f14267_0_11"/>
          <p:cNvSpPr txBox="1"/>
          <p:nvPr/>
        </p:nvSpPr>
        <p:spPr>
          <a:xfrm>
            <a:off x="3131425" y="4468725"/>
            <a:ext cx="29331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Some sample images from the dataset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af2b7fa6e_0_27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g36af2b7fa6e_0_27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Problems faced in OCR</a:t>
            </a:r>
            <a:endParaRPr b="1"/>
          </a:p>
        </p:txBody>
      </p:sp>
      <p:sp>
        <p:nvSpPr>
          <p:cNvPr id="507" name="Google Shape;507;g36af2b7fa6e_0_27"/>
          <p:cNvSpPr txBox="1"/>
          <p:nvPr/>
        </p:nvSpPr>
        <p:spPr>
          <a:xfrm>
            <a:off x="739000" y="972575"/>
            <a:ext cx="7849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ogle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images with low confidence had the following issues: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 1 - Vertical text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 2 - Low Contrast between text and background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 3 - Difficult font 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 4 - Text occupies a very small part of the image 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 5 - Blurry image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ogle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tackle these problems, some more steps were introduced: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Rotating the bounding boxes for all 4 major orientations (For Type 1).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Applying grayscaling only if contrast is more than threshold (For Type 2). 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Resizing images that give zero confidence, to get the text (For Type 4).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AutoNum type="alphaLcPeriod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Sharpening the image (For Type 5). 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af2b7fa6e_0_12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3" name="Google Shape;513;g36af2b7fa6e_0_12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F1 and Recall Results on dataset</a:t>
            </a:r>
            <a:endParaRPr b="1"/>
          </a:p>
        </p:txBody>
      </p:sp>
      <p:graphicFrame>
        <p:nvGraphicFramePr>
          <p:cNvPr id="514" name="Google Shape;514;g36af2b7fa6e_0_12"/>
          <p:cNvGraphicFramePr/>
          <p:nvPr/>
        </p:nvGraphicFramePr>
        <p:xfrm>
          <a:off x="1004900" y="12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{B5F585C6-75B1-4C37-AC2C-7FAF261CD204}</a:tableStyleId>
              </a:tblPr>
              <a:tblGrid>
                <a:gridCol w="3619500"/>
                <a:gridCol w="3619500"/>
              </a:tblGrid>
              <a:tr h="636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Techniques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Results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98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Grayscaling, CLAHE (clip - 1.5), denoising, dilation, sharpening (alpha - 0.9), upscaling, box-wise matching.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cap="none" strike="noStrike">
                          <a:solidFill>
                            <a:srgbClr val="F9267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 = 263, FP = 105, FN = 345</a:t>
                      </a:r>
                      <a:endParaRPr sz="1050" u="none" cap="none" strike="noStrike">
                        <a:solidFill>
                          <a:srgbClr val="F9267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cap="none" strike="noStrike">
                          <a:solidFill>
                            <a:srgbClr val="F9267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Precision = 0.7147</a:t>
                      </a:r>
                      <a:endParaRPr sz="1050" u="none" cap="none" strike="noStrike">
                        <a:solidFill>
                          <a:srgbClr val="F9267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cap="none" strike="noStrike">
                          <a:solidFill>
                            <a:srgbClr val="F9267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Recall    = 0.4326</a:t>
                      </a:r>
                      <a:endParaRPr sz="1050" u="none" cap="none" strike="noStrike">
                        <a:solidFill>
                          <a:srgbClr val="F9267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" sz="1050" u="none" cap="none" strike="noStrike">
                          <a:solidFill>
                            <a:srgbClr val="F9267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F1 Score  = 0.5389</a:t>
                      </a:r>
                      <a:endParaRPr sz="1050" u="none" cap="none" strike="noStrike">
                        <a:solidFill>
                          <a:srgbClr val="F92672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5" name="Google Shape;515;g36af2b7fa6e_0_12"/>
          <p:cNvSpPr txBox="1"/>
          <p:nvPr/>
        </p:nvSpPr>
        <p:spPr>
          <a:xfrm>
            <a:off x="1008075" y="3346725"/>
            <a:ext cx="73113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Applying the improvement techniques to tackle specific types of images:</a:t>
            </a:r>
            <a:endParaRPr b="1"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F1 score has increased to 0.5389 from 0.4115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Recall has increased to 0.4326 from 0.3244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Precision has also increased to 0.7147 from 0.5627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af2b7fa6e_0_90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1" name="Google Shape;521;g36af2b7fa6e_0_90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Text Translation: Japanese to English</a:t>
            </a:r>
            <a:endParaRPr b="1"/>
          </a:p>
        </p:txBody>
      </p:sp>
      <p:sp>
        <p:nvSpPr>
          <p:cNvPr id="522" name="Google Shape;522;g36af2b7fa6e_0_90"/>
          <p:cNvSpPr txBox="1"/>
          <p:nvPr/>
        </p:nvSpPr>
        <p:spPr>
          <a:xfrm>
            <a:off x="749075" y="1116600"/>
            <a:ext cx="4645500" cy="3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Instrument Sans"/>
                <a:ea typeface="Instrument Sans"/>
                <a:cs typeface="Instrument Sans"/>
                <a:sym typeface="Instrument Sans"/>
              </a:rPr>
              <a:t>Model Overview</a:t>
            </a:r>
            <a:endParaRPr b="1"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Model used: Helsinki-NLP/opus-mt-ja-en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Uses HuggingFace Transformers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It is a MarianMT model, pretrained for Japanese to English translation.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Instrument Sans"/>
                <a:ea typeface="Instrument Sans"/>
                <a:cs typeface="Instrument Sans"/>
                <a:sym typeface="Instrument Sans"/>
              </a:rPr>
              <a:t>Methodology</a:t>
            </a:r>
            <a:endParaRPr b="1"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OCR-detected Japanese text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Ground Truth </a:t>
            </a:r>
            <a:r>
              <a:rPr lang="en" sz="1300">
                <a:solidFill>
                  <a:srgbClr val="18803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.txt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files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OCR </a:t>
            </a:r>
            <a:r>
              <a:rPr lang="en" sz="1300">
                <a:solidFill>
                  <a:srgbClr val="18803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.csv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file from earlier step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Text is cleaned and tokenized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Translated using the model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Post-processed to remove special tokens.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3" name="Google Shape;523;g36af2b7fa6e_0_90"/>
          <p:cNvSpPr/>
          <p:nvPr/>
        </p:nvSpPr>
        <p:spPr>
          <a:xfrm>
            <a:off x="6154600" y="161727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g36af2b7fa6e_0_90"/>
          <p:cNvSpPr txBox="1"/>
          <p:nvPr/>
        </p:nvSpPr>
        <p:spPr>
          <a:xfrm>
            <a:off x="6285075" y="170860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Input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5" name="Google Shape;525;g36af2b7fa6e_0_90"/>
          <p:cNvCxnSpPr>
            <a:stCxn id="523" idx="2"/>
          </p:cNvCxnSpPr>
          <p:nvPr/>
        </p:nvCxnSpPr>
        <p:spPr>
          <a:xfrm>
            <a:off x="7198450" y="1982675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g36af2b7fa6e_0_90"/>
          <p:cNvSpPr/>
          <p:nvPr/>
        </p:nvSpPr>
        <p:spPr>
          <a:xfrm>
            <a:off x="6154600" y="229890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7" name="Google Shape;527;g36af2b7fa6e_0_90"/>
          <p:cNvSpPr txBox="1"/>
          <p:nvPr/>
        </p:nvSpPr>
        <p:spPr>
          <a:xfrm>
            <a:off x="6154600" y="2413050"/>
            <a:ext cx="2087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Cleaning and Tokenization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28" name="Google Shape;528;g36af2b7fa6e_0_90"/>
          <p:cNvCxnSpPr/>
          <p:nvPr/>
        </p:nvCxnSpPr>
        <p:spPr>
          <a:xfrm>
            <a:off x="7185375" y="2664300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g36af2b7fa6e_0_90"/>
          <p:cNvSpPr/>
          <p:nvPr/>
        </p:nvSpPr>
        <p:spPr>
          <a:xfrm>
            <a:off x="6154600" y="298052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0" name="Google Shape;530;g36af2b7fa6e_0_90"/>
          <p:cNvSpPr txBox="1"/>
          <p:nvPr/>
        </p:nvSpPr>
        <p:spPr>
          <a:xfrm>
            <a:off x="6285075" y="307185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Translation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31" name="Google Shape;531;g36af2b7fa6e_0_90"/>
          <p:cNvCxnSpPr/>
          <p:nvPr/>
        </p:nvCxnSpPr>
        <p:spPr>
          <a:xfrm>
            <a:off x="7185375" y="3343663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g36af2b7fa6e_0_90"/>
          <p:cNvSpPr/>
          <p:nvPr/>
        </p:nvSpPr>
        <p:spPr>
          <a:xfrm>
            <a:off x="6154600" y="366215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3" name="Google Shape;533;g36af2b7fa6e_0_90"/>
          <p:cNvSpPr txBox="1"/>
          <p:nvPr/>
        </p:nvSpPr>
        <p:spPr>
          <a:xfrm>
            <a:off x="6285075" y="377180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Output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bf7f14267_0_77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9" name="Google Shape;539;g36bf7f14267_0_77"/>
          <p:cNvSpPr txBox="1"/>
          <p:nvPr>
            <p:ph type="title"/>
          </p:nvPr>
        </p:nvSpPr>
        <p:spPr>
          <a:xfrm>
            <a:off x="607075" y="282900"/>
            <a:ext cx="7981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Evaluation of Translated Text </a:t>
            </a:r>
            <a:endParaRPr b="1"/>
          </a:p>
        </p:txBody>
      </p:sp>
      <p:sp>
        <p:nvSpPr>
          <p:cNvPr id="540" name="Google Shape;540;g36bf7f14267_0_77"/>
          <p:cNvSpPr txBox="1"/>
          <p:nvPr/>
        </p:nvSpPr>
        <p:spPr>
          <a:xfrm>
            <a:off x="736875" y="884700"/>
            <a:ext cx="7981800" cy="3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Instrument Sans"/>
                <a:ea typeface="Instrument Sans"/>
                <a:cs typeface="Instrument Sans"/>
                <a:sym typeface="Instrument Sans"/>
              </a:rPr>
              <a:t>Fuzzy Matching:</a:t>
            </a:r>
            <a:endParaRPr b="1"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Textual Similarity (0 to 1)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There were cases of complete similarity also, but the average remained at 0.41.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Instrument Sans"/>
                <a:ea typeface="Instrument Sans"/>
                <a:cs typeface="Instrument Sans"/>
                <a:sym typeface="Instrument Sans"/>
              </a:rPr>
              <a:t>TER</a:t>
            </a:r>
            <a:endParaRPr b="1"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Translation Edit Rate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Instrument Sans"/>
              <a:buChar char="●"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This remained high for most of the cases and average was also high around 113.3.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Main cause for poor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performance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of the translator is breaking of bounding boxes. The boxes defined in the dataset mostly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encapsulated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a sentence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correctly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into a si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ngle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box, but OCR broke a single sentence into multiple parts leading to bad contextualization and hence bad translation. 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To tackle this box merging was used which did improve the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performance.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bf7f14267_0_51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6" name="Google Shape;546;g36bf7f14267_0_51"/>
          <p:cNvSpPr txBox="1"/>
          <p:nvPr>
            <p:ph type="title"/>
          </p:nvPr>
        </p:nvSpPr>
        <p:spPr>
          <a:xfrm>
            <a:off x="607075" y="282900"/>
            <a:ext cx="7981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Few </a:t>
            </a:r>
            <a:r>
              <a:rPr b="1" lang="en"/>
              <a:t>Examples of GT vs OCR - Good</a:t>
            </a:r>
            <a:endParaRPr b="1"/>
          </a:p>
        </p:txBody>
      </p:sp>
      <p:sp>
        <p:nvSpPr>
          <p:cNvPr id="547" name="Google Shape;547;g36bf7f14267_0_51"/>
          <p:cNvSpPr txBox="1"/>
          <p:nvPr/>
        </p:nvSpPr>
        <p:spPr>
          <a:xfrm>
            <a:off x="1363288" y="1201575"/>
            <a:ext cx="3439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Fuzzy_Avg: 0.815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 Text Lines (3):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Tohoku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Let's go!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Chiyotsu is a great trip.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OCR Text Lines (4):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Tohoku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Let's go!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the Shinkansen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good trip</a:t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48" name="Google Shape;548;g36bf7f14267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1925" y="1068225"/>
            <a:ext cx="2254326" cy="354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af2b7fa6e_0_107"/>
          <p:cNvSpPr/>
          <p:nvPr/>
        </p:nvSpPr>
        <p:spPr>
          <a:xfrm>
            <a:off x="70850" y="-70825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4" name="Google Shape;554;g36af2b7fa6e_0_107"/>
          <p:cNvSpPr txBox="1"/>
          <p:nvPr>
            <p:ph type="title"/>
          </p:nvPr>
        </p:nvSpPr>
        <p:spPr>
          <a:xfrm>
            <a:off x="607075" y="282900"/>
            <a:ext cx="79818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Few Examples of GT vs OCR - Bad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t/>
            </a:r>
            <a:endParaRPr b="1"/>
          </a:p>
        </p:txBody>
      </p:sp>
      <p:sp>
        <p:nvSpPr>
          <p:cNvPr id="555" name="Google Shape;555;g36af2b7fa6e_0_107"/>
          <p:cNvSpPr txBox="1"/>
          <p:nvPr/>
        </p:nvSpPr>
        <p:spPr>
          <a:xfrm>
            <a:off x="1351925" y="1280525"/>
            <a:ext cx="34398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Fuzzy_Avg: 0.154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strument Sans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GT Text Lines (1):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Nipponbashi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strument Sans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OCR Text Lines (2):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Roku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strument Sans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Leave the board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6" name="Google Shape;556;g36af2b7fa6e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196" y="1305403"/>
            <a:ext cx="2789376" cy="1859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6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Where does the problem lie?</a:t>
            </a:r>
            <a:endParaRPr b="1"/>
          </a:p>
        </p:txBody>
      </p:sp>
      <p:sp>
        <p:nvSpPr>
          <p:cNvPr id="562" name="Google Shape;562;p16"/>
          <p:cNvSpPr txBox="1"/>
          <p:nvPr>
            <p:ph idx="1" type="subTitle"/>
          </p:nvPr>
        </p:nvSpPr>
        <p:spPr>
          <a:xfrm>
            <a:off x="670488" y="970300"/>
            <a:ext cx="81879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After observing various instances where the performance was bad, few things can be noted:</a:t>
            </a:r>
            <a:endParaRPr sz="1600"/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Performance of OCR affects the translations.</a:t>
            </a:r>
            <a:endParaRPr sz="1600"/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OCR performs poorly on complex font styles and vertical text, this is due to imbalance in the training material, where vertical text instances were lower.</a:t>
            </a:r>
            <a:endParaRPr sz="1600"/>
          </a:p>
          <a:p>
            <a:pPr indent="-3302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Breakage of long phrases due to tokenization changes context and leads to bad translation.</a:t>
            </a:r>
            <a:endParaRPr sz="1600"/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</p:txBody>
      </p:sp>
      <p:sp>
        <p:nvSpPr>
          <p:cNvPr id="563" name="Google Shape;563;p16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bf7f14267_0_116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Live Feed Overlay</a:t>
            </a:r>
            <a:endParaRPr b="1"/>
          </a:p>
        </p:txBody>
      </p:sp>
      <p:sp>
        <p:nvSpPr>
          <p:cNvPr id="569" name="Google Shape;569;g36bf7f14267_0_116"/>
          <p:cNvSpPr txBox="1"/>
          <p:nvPr>
            <p:ph idx="1" type="subTitle"/>
          </p:nvPr>
        </p:nvSpPr>
        <p:spPr>
          <a:xfrm>
            <a:off x="658775" y="1017775"/>
            <a:ext cx="48261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Capture</a:t>
            </a:r>
            <a:r>
              <a:rPr lang="en" sz="1400">
                <a:solidFill>
                  <a:srgbClr val="000000"/>
                </a:solidFill>
              </a:rPr>
              <a:t> frame from webcam using OpenCV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Preprocess</a:t>
            </a:r>
            <a:r>
              <a:rPr lang="en" sz="1400">
                <a:solidFill>
                  <a:srgbClr val="000000"/>
                </a:solidFill>
              </a:rPr>
              <a:t> the frame: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Grayscale, CLAHE, denoise, sharpen, dilate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Upscale for better OCR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OCR</a:t>
            </a:r>
            <a:r>
              <a:rPr lang="en" sz="1400">
                <a:solidFill>
                  <a:srgbClr val="000000"/>
                </a:solidFill>
              </a:rPr>
              <a:t> with PaddleOCR.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Translate</a:t>
            </a:r>
            <a:r>
              <a:rPr lang="en" sz="1400">
                <a:solidFill>
                  <a:srgbClr val="000000"/>
                </a:solidFill>
              </a:rPr>
              <a:t> detected text using MarianMT model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Overlay</a:t>
            </a:r>
            <a:r>
              <a:rPr lang="en" sz="1400">
                <a:solidFill>
                  <a:srgbClr val="000000"/>
                </a:solidFill>
              </a:rPr>
              <a:t> translated text on live video with bounding boxes and blurring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0" name="Google Shape;570;g36bf7f14267_0_116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1" name="Google Shape;571;g36bf7f14267_0_116"/>
          <p:cNvSpPr/>
          <p:nvPr/>
        </p:nvSpPr>
        <p:spPr>
          <a:xfrm>
            <a:off x="6154600" y="108300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2" name="Google Shape;572;g36bf7f14267_0_116"/>
          <p:cNvSpPr txBox="1"/>
          <p:nvPr/>
        </p:nvSpPr>
        <p:spPr>
          <a:xfrm>
            <a:off x="6285075" y="1174325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Input  (Webcam)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73" name="Google Shape;573;g36bf7f14267_0_116"/>
          <p:cNvCxnSpPr>
            <a:stCxn id="571" idx="2"/>
          </p:cNvCxnSpPr>
          <p:nvPr/>
        </p:nvCxnSpPr>
        <p:spPr>
          <a:xfrm>
            <a:off x="7198450" y="1448400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g36bf7f14267_0_116"/>
          <p:cNvSpPr/>
          <p:nvPr/>
        </p:nvSpPr>
        <p:spPr>
          <a:xfrm>
            <a:off x="6154600" y="176462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5" name="Google Shape;575;g36bf7f14267_0_116"/>
          <p:cNvSpPr txBox="1"/>
          <p:nvPr/>
        </p:nvSpPr>
        <p:spPr>
          <a:xfrm>
            <a:off x="6154600" y="1878775"/>
            <a:ext cx="2087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Pre-processing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76" name="Google Shape;576;g36bf7f14267_0_116"/>
          <p:cNvCxnSpPr/>
          <p:nvPr/>
        </p:nvCxnSpPr>
        <p:spPr>
          <a:xfrm>
            <a:off x="7185375" y="2130025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g36bf7f14267_0_116"/>
          <p:cNvSpPr/>
          <p:nvPr/>
        </p:nvSpPr>
        <p:spPr>
          <a:xfrm>
            <a:off x="6154600" y="244625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8" name="Google Shape;578;g36bf7f14267_0_116"/>
          <p:cNvSpPr txBox="1"/>
          <p:nvPr/>
        </p:nvSpPr>
        <p:spPr>
          <a:xfrm>
            <a:off x="6285075" y="2537575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OCR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79" name="Google Shape;579;g36bf7f14267_0_116"/>
          <p:cNvCxnSpPr/>
          <p:nvPr/>
        </p:nvCxnSpPr>
        <p:spPr>
          <a:xfrm>
            <a:off x="7185375" y="2809388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g36bf7f14267_0_116"/>
          <p:cNvSpPr/>
          <p:nvPr/>
        </p:nvSpPr>
        <p:spPr>
          <a:xfrm>
            <a:off x="6154600" y="3127875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1" name="Google Shape;581;g36bf7f14267_0_116"/>
          <p:cNvSpPr txBox="1"/>
          <p:nvPr/>
        </p:nvSpPr>
        <p:spPr>
          <a:xfrm>
            <a:off x="6285075" y="3237525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Translation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582" name="Google Shape;582;g36bf7f14267_0_116"/>
          <p:cNvCxnSpPr/>
          <p:nvPr/>
        </p:nvCxnSpPr>
        <p:spPr>
          <a:xfrm>
            <a:off x="7198450" y="3493263"/>
            <a:ext cx="0" cy="33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g36bf7f14267_0_116"/>
          <p:cNvSpPr/>
          <p:nvPr/>
        </p:nvSpPr>
        <p:spPr>
          <a:xfrm>
            <a:off x="6154600" y="3809500"/>
            <a:ext cx="2087700" cy="36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4" name="Google Shape;584;g36bf7f14267_0_116"/>
          <p:cNvSpPr txBox="1"/>
          <p:nvPr/>
        </p:nvSpPr>
        <p:spPr>
          <a:xfrm>
            <a:off x="6285075" y="3919150"/>
            <a:ext cx="18006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Overlay on Frame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5" name="Google Shape;585;g36bf7f14267_0_116"/>
          <p:cNvSpPr txBox="1"/>
          <p:nvPr/>
        </p:nvSpPr>
        <p:spPr>
          <a:xfrm>
            <a:off x="752638" y="3633800"/>
            <a:ext cx="49341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Note: 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above pipeline is run 5 frames per second and each of these frames goes through the same process. This is done to manage the latency or time gap generated due to OCR and translation.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helps to avoid overloading the CPU and also maintains a real-time performance.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bf7f14267_0_137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Live Feed Overlay - few snapshots</a:t>
            </a:r>
            <a:endParaRPr b="1"/>
          </a:p>
        </p:txBody>
      </p:sp>
      <p:sp>
        <p:nvSpPr>
          <p:cNvPr id="591" name="Google Shape;591;g36bf7f14267_0_137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92" name="Google Shape;592;g36bf7f14267_0_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263" y="852925"/>
            <a:ext cx="6294720" cy="376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bf7f14267_0_160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Live Feed Overlay - few snapshots</a:t>
            </a:r>
            <a:endParaRPr b="1"/>
          </a:p>
        </p:txBody>
      </p:sp>
      <p:sp>
        <p:nvSpPr>
          <p:cNvPr id="598" name="Google Shape;598;g36bf7f14267_0_160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99" name="Google Shape;599;g36bf7f14267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327" y="1169903"/>
            <a:ext cx="6250600" cy="3056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6bf7f14267_0_168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Live Feed Overlay - few snapshots</a:t>
            </a:r>
            <a:endParaRPr b="1"/>
          </a:p>
        </p:txBody>
      </p:sp>
      <p:sp>
        <p:nvSpPr>
          <p:cNvPr id="605" name="Google Shape;605;g36bf7f14267_0_168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06" name="Google Shape;606;g36bf7f14267_0_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8175" y="1336163"/>
            <a:ext cx="3159215" cy="25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6bf7f14267_0_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5125" y="986825"/>
            <a:ext cx="5755750" cy="37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6bf7f14267_0_174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Live Feed Overlay - few snapshots</a:t>
            </a:r>
            <a:endParaRPr b="1"/>
          </a:p>
        </p:txBody>
      </p:sp>
      <p:sp>
        <p:nvSpPr>
          <p:cNvPr id="613" name="Google Shape;613;g36bf7f14267_0_174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14" name="Google Shape;614;g36bf7f14267_0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850" y="879025"/>
            <a:ext cx="4955104" cy="397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6bf7f14267_0_184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Issues with live feed Overlay</a:t>
            </a:r>
            <a:endParaRPr b="1"/>
          </a:p>
        </p:txBody>
      </p:sp>
      <p:sp>
        <p:nvSpPr>
          <p:cNvPr id="620" name="Google Shape;620;g36bf7f14267_0_184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1" name="Google Shape;621;g36bf7f14267_0_184"/>
          <p:cNvSpPr txBox="1"/>
          <p:nvPr/>
        </p:nvSpPr>
        <p:spPr>
          <a:xfrm>
            <a:off x="623788" y="971400"/>
            <a:ext cx="30636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current interface is CPU-only, so the OCr and translation are slower and the overlay rate is of 5 FPS.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maintain a functional overlay and avoid overloading the system translates every 5th frame of a second, this leads to a choppy overlay.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22" name="Google Shape;622;g36bf7f14267_0_184" title="Untitled desig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6575" y="1021550"/>
            <a:ext cx="3985733" cy="298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6bf7f14267_0_184"/>
          <p:cNvSpPr txBox="1"/>
          <p:nvPr/>
        </p:nvSpPr>
        <p:spPr>
          <a:xfrm>
            <a:off x="1562974" y="4673998"/>
            <a:ext cx="7035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https://drive.google.com/file/d/1jmBDYsDgS3Wkacu-j4LboWHjkddsHiKP/view?usp=drivesdk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6bf7f14267_0_192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Possible </a:t>
            </a:r>
            <a:r>
              <a:rPr b="1" lang="en"/>
              <a:t>methods to Improve Overlay</a:t>
            </a:r>
            <a:endParaRPr b="1"/>
          </a:p>
        </p:txBody>
      </p:sp>
      <p:sp>
        <p:nvSpPr>
          <p:cNvPr id="629" name="Google Shape;629;g36bf7f14267_0_192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0" name="Google Shape;630;g36bf7f14267_0_192"/>
          <p:cNvSpPr txBox="1"/>
          <p:nvPr/>
        </p:nvSpPr>
        <p:spPr>
          <a:xfrm>
            <a:off x="623820" y="971400"/>
            <a:ext cx="80676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Using GPU-enabled OCR and translation to </a:t>
            </a: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provide</a:t>
            </a: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better processing speed.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Optimizing image pre-processing pipeline more, removing steps like dilation.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quantized model for translation and use caching.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Using of adaptive frame skipping instead of predefined interval.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bf7f14267_0_205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Future Work and Enhancements</a:t>
            </a:r>
            <a:endParaRPr b="1"/>
          </a:p>
        </p:txBody>
      </p:sp>
      <p:sp>
        <p:nvSpPr>
          <p:cNvPr id="636" name="Google Shape;636;g36bf7f14267_0_205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7" name="Google Shape;637;g36bf7f14267_0_205"/>
          <p:cNvSpPr txBox="1"/>
          <p:nvPr/>
        </p:nvSpPr>
        <p:spPr>
          <a:xfrm>
            <a:off x="623820" y="971400"/>
            <a:ext cx="80676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Extension to mobile device and HMDs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Expansion to multiple languages and self detection of language.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Merging with TTS (Text-to-Speech) feature for accessibility.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Shift to AR integration by allowing user to select text region by hand gestures.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Improve robustness for bad OCR cases like curved and vertical text or stylised font.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Char char="●"/>
            </a:pP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Explore lighter models like TinyTranslation after </a:t>
            </a: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achieving</a:t>
            </a:r>
            <a:r>
              <a:rPr lang="en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 more robust OCR.</a:t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6bf7f14267_0_211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Acknowledgement</a:t>
            </a:r>
            <a:endParaRPr b="1"/>
          </a:p>
        </p:txBody>
      </p:sp>
      <p:sp>
        <p:nvSpPr>
          <p:cNvPr id="643" name="Google Shape;643;g36bf7f14267_0_211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4" name="Google Shape;644;g36bf7f14267_0_211"/>
          <p:cNvSpPr txBox="1"/>
          <p:nvPr/>
        </p:nvSpPr>
        <p:spPr>
          <a:xfrm>
            <a:off x="623820" y="971400"/>
            <a:ext cx="80676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I would like to sincerely thank the School of Information and Data Sciences, Nagasaki University, for providing this research internship opportunity, I have learned a lot through this experience.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I am especially grateful to my guide Dr. Ozaki, and my lab mates for their valuable guidance, feedback, and support throughout this project.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This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experience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 has taught me many valuable skills and lessons.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6bf7f14267_0_218"/>
          <p:cNvSpPr txBox="1"/>
          <p:nvPr>
            <p:ph type="title"/>
          </p:nvPr>
        </p:nvSpPr>
        <p:spPr>
          <a:xfrm>
            <a:off x="670488" y="241075"/>
            <a:ext cx="7849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"/>
              <a:t>Beyond The Lab: My time in Nagasaki</a:t>
            </a:r>
            <a:endParaRPr b="1"/>
          </a:p>
        </p:txBody>
      </p:sp>
      <p:sp>
        <p:nvSpPr>
          <p:cNvPr id="650" name="Google Shape;650;g36bf7f14267_0_218"/>
          <p:cNvSpPr/>
          <p:nvPr/>
        </p:nvSpPr>
        <p:spPr>
          <a:xfrm>
            <a:off x="70875" y="-70800"/>
            <a:ext cx="213900" cy="52851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1" name="Google Shape;651;g36bf7f14267_0_218"/>
          <p:cNvSpPr txBox="1"/>
          <p:nvPr/>
        </p:nvSpPr>
        <p:spPr>
          <a:xfrm>
            <a:off x="623820" y="971400"/>
            <a:ext cx="80676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Along with my work at the lab, I had a very good time in Nagasaki. 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We explored the city and met with fellow japanese </a:t>
            </a: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students who made us feel right at home.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The japanese classes were also very valuable and like a break from regular lab work.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Instrument Sans"/>
                <a:ea typeface="Instrument Sans"/>
                <a:cs typeface="Instrument Sans"/>
                <a:sym typeface="Instrument Sans"/>
              </a:rPr>
              <a:t>Beyond academics, I experienced the rich history, serene environment, and welcoming community of Nagasaki. This internship broadened my technical skills, global perspective, and appreciation for intercultural collaboration.</a:t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52" name="Google Shape;652;g36bf7f14267_0_2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00" y="3040300"/>
            <a:ext cx="2274075" cy="15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g36bf7f14267_0_218" title="20250608_202559.jpg"/>
          <p:cNvPicPr preferRelativeResize="0"/>
          <p:nvPr/>
        </p:nvPicPr>
        <p:blipFill rotWithShape="1">
          <a:blip r:embed="rId4">
            <a:alphaModFix/>
          </a:blip>
          <a:srcRect b="0" l="0" r="0" t="20634"/>
          <a:stretch/>
        </p:blipFill>
        <p:spPr>
          <a:xfrm>
            <a:off x="5770815" y="2845475"/>
            <a:ext cx="3006162" cy="1789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g36bf7f14267_0_218" title="20250621_16255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5648" y="2845470"/>
            <a:ext cx="1342011" cy="178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0"/>
          <p:cNvSpPr txBox="1"/>
          <p:nvPr>
            <p:ph type="title"/>
          </p:nvPr>
        </p:nvSpPr>
        <p:spPr>
          <a:xfrm>
            <a:off x="812225" y="3128675"/>
            <a:ext cx="59670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700"/>
              <a:t>Thank you</a:t>
            </a:r>
            <a:endParaRPr sz="3700"/>
          </a:p>
        </p:txBody>
      </p:sp>
      <p:pic>
        <p:nvPicPr>
          <p:cNvPr descr="An abstract texture of raised wave shapes on a white surface. " id="660" name="Google Shape;660;p20"/>
          <p:cNvPicPr preferRelativeResize="0"/>
          <p:nvPr/>
        </p:nvPicPr>
        <p:blipFill rotWithShape="1">
          <a:blip r:embed="rId3">
            <a:alphaModFix amt="50000"/>
          </a:blip>
          <a:srcRect b="0" l="23648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61" name="Google Shape;661;p20"/>
          <p:cNvSpPr txBox="1"/>
          <p:nvPr>
            <p:ph idx="1" type="subTitle"/>
          </p:nvPr>
        </p:nvSpPr>
        <p:spPr>
          <a:xfrm>
            <a:off x="1008000" y="4223155"/>
            <a:ext cx="17946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100"/>
              <a:t>Aditi Sharma</a:t>
            </a:r>
            <a:endParaRPr sz="1100"/>
          </a:p>
        </p:txBody>
      </p:sp>
      <p:sp>
        <p:nvSpPr>
          <p:cNvPr id="662" name="Google Shape;662;p20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100"/>
              <a:t>Date - 8th July, 2025</a:t>
            </a:r>
            <a:endParaRPr sz="1100"/>
          </a:p>
        </p:txBody>
      </p:sp>
      <p:sp>
        <p:nvSpPr>
          <p:cNvPr id="663" name="Google Shape;663;p20"/>
          <p:cNvSpPr txBox="1"/>
          <p:nvPr>
            <p:ph idx="1" type="subTitle"/>
          </p:nvPr>
        </p:nvSpPr>
        <p:spPr>
          <a:xfrm>
            <a:off x="1008000" y="4028225"/>
            <a:ext cx="179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950">
                <a:solidFill>
                  <a:srgbClr val="333333"/>
                </a:solidFill>
                <a:highlight>
                  <a:srgbClr val="F9F9F9"/>
                </a:highlight>
                <a:latin typeface="Roboto"/>
                <a:ea typeface="Roboto"/>
                <a:cs typeface="Roboto"/>
                <a:sym typeface="Roboto"/>
              </a:rPr>
              <a:t>アディティ シャルマ</a:t>
            </a:r>
            <a:endParaRPr sz="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